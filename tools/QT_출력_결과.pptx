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5C4A"/>
          </a:solidFill>
          <a:ln w="9525">
            <a:solidFill>
              <a:srgbClr val="3D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1005840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572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QT  묵상</a:t>
            </a:r>
          </a:p>
        </p:txBody>
      </p:sp>
      <p:sp>
        <p:nvSpPr>
          <p:cNvPr id="6" name="cover_title"/>
          <p:cNvSpPr txBox="1"/>
          <p:nvPr/>
        </p:nvSpPr>
        <p:spPr>
          <a:xfrm>
            <a:off x="822960" y="1188720"/>
            <a:ext cx="7498079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2C3A2E"/>
                </a:solidFill>
                <a:latin typeface="Malgun Gothic"/>
              </a:rPr>
              <a:t>말세를 살아가는 성도의 두 가지 향기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514600"/>
            <a:ext cx="2743200" cy="22860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ver_scripture"/>
          <p:cNvSpPr txBox="1"/>
          <p:nvPr/>
        </p:nvSpPr>
        <p:spPr>
          <a:xfrm>
            <a:off x="822960" y="2697480"/>
            <a:ext cx="749807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8B6F47"/>
                </a:solidFill>
                <a:latin typeface="Malgun Gothic"/>
              </a:rPr>
              <a:t>📖  본문 말씀: 데살로니가전서 4:9-12</a:t>
            </a:r>
          </a:p>
        </p:txBody>
      </p:sp>
      <p:sp>
        <p:nvSpPr>
          <p:cNvPr id="9" name="cover_hymn"/>
          <p:cNvSpPr txBox="1"/>
          <p:nvPr/>
        </p:nvSpPr>
        <p:spPr>
          <a:xfrm>
            <a:off x="822960" y="3127248"/>
            <a:ext cx="749807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7A7A7A"/>
                </a:solidFill>
                <a:latin typeface="Malgun Gothic"/>
              </a:rPr>
              <a:t>🎵  찬송: 218장 (네 맘과 정성을 다하여서)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D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7A7A7A"/>
                </a:solidFill>
                <a:latin typeface="Malgun Gothic"/>
              </a:rPr>
              <a:t>본 문서는 S2QT 자동 생성 템플릿입니다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D5C4A"/>
          </a:solidFill>
          <a:ln w="9525">
            <a:solidFill>
              <a:srgbClr val="3D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411480" cy="594360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말씀의 창  ·  본문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77240"/>
            <a:ext cx="54864" cy="347472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cripture_section_title"/>
          <p:cNvSpPr txBox="1"/>
          <p:nvPr/>
        </p:nvSpPr>
        <p:spPr>
          <a:xfrm>
            <a:off x="548640" y="77724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2C3A2E"/>
                </a:solidFill>
                <a:latin typeface="Malgun Gothic"/>
              </a:rPr>
              <a:t>말씀의 창 (Scripture)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8321040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cripture_body"/>
          <p:cNvSpPr txBox="1"/>
          <p:nvPr/>
        </p:nvSpPr>
        <p:spPr>
          <a:xfrm>
            <a:off x="566928" y="1325880"/>
            <a:ext cx="8010144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사도 바울은 데살로니가 성도들에게 형제 사랑을 더욱 힘쓰라고 권면합니다.</a:t>
            </a:r>
          </a:p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하나님의 뜻은 성도들의 거룩함에 있으며, 음란을 버리고 각자 거룩함과 존귀함으로 살아갈 것을 강조합니다.</a:t>
            </a:r>
          </a:p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바울은 조용히 자기 일을 하며 손으로 일하기를 힘쓰라고 명령하여, 일상의 삶 속에서도 그리스도인의 향기를 드러낼 것을 촉구합니다.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754880"/>
            <a:ext cx="8321040" cy="9144"/>
          </a:xfrm>
          <a:prstGeom prst="rect">
            <a:avLst/>
          </a:prstGeom>
          <a:solidFill>
            <a:srgbClr val="D4C5A9"/>
          </a:solidFill>
          <a:ln w="9525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7A7A7A"/>
                </a:solidFill>
                <a:latin typeface="Malgun Gothic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D5C4A"/>
          </a:solidFill>
          <a:ln w="9525">
            <a:solidFill>
              <a:srgbClr val="3D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411480" cy="594360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오늘의 메시지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77240"/>
            <a:ext cx="54864" cy="347472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sg1_section_title"/>
          <p:cNvSpPr txBox="1"/>
          <p:nvPr/>
        </p:nvSpPr>
        <p:spPr>
          <a:xfrm>
            <a:off x="548640" y="77724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2C3A2E"/>
                </a:solidFill>
                <a:latin typeface="Malgun Gothic"/>
              </a:rPr>
              <a:t>오늘의 메시지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8321040" cy="475488"/>
          </a:xfrm>
          <a:prstGeom prst="rect">
            <a:avLst/>
          </a:prstGeom>
          <a:solidFill>
            <a:srgbClr val="EDE0CC"/>
          </a:solidFill>
          <a:ln w="762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sg1_subtitle"/>
          <p:cNvSpPr txBox="1"/>
          <p:nvPr/>
        </p:nvSpPr>
        <p:spPr>
          <a:xfrm>
            <a:off x="502920" y="1252728"/>
            <a:ext cx="8138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50" b="1" i="0">
                <a:solidFill>
                  <a:srgbClr val="2C3A2E"/>
                </a:solidFill>
                <a:latin typeface="Malgun Gothic"/>
              </a:rPr>
              <a:t>1.  사랑의 용광로를 품는 공동체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01368"/>
            <a:ext cx="8321040" cy="2633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sg1_body"/>
          <p:cNvSpPr txBox="1"/>
          <p:nvPr/>
        </p:nvSpPr>
        <p:spPr>
          <a:xfrm>
            <a:off x="566928" y="1892807"/>
            <a:ext cx="8010144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말세를 살아가는 성도의 첫 번째 자세는 형제 사랑의 열정을 회복하는 것입니다. 데살로니가 교회는 이미 사랑의 수고로 소문난 곳이었지만, 바울은 더욱 그렇게 행하라고 권면합니다.</a:t>
            </a:r>
          </a:p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성도의 사랑은 감정이 아닌 하나님의 가르침에 대한 순종입니다. 내가 정한 범위를 넘어 모든 이들을 향해 마음을 여는 것이 이기주의를 이기는 성도의 모습입니다.</a:t>
            </a:r>
          </a:p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오늘 내가 먼저 이해하고 다가가야 할 사람은 누구입니까? 선입견을 내려놓고 사랑으로 다가가십시오.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754880"/>
            <a:ext cx="8321040" cy="9144"/>
          </a:xfrm>
          <a:prstGeom prst="rect">
            <a:avLst/>
          </a:prstGeom>
          <a:solidFill>
            <a:srgbClr val="D4C5A9"/>
          </a:solidFill>
          <a:ln w="9525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7A7A7A"/>
                </a:solidFill>
                <a:latin typeface="Malgun Gothic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D5C4A"/>
          </a:solidFill>
          <a:ln w="9525">
            <a:solidFill>
              <a:srgbClr val="3D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411480" cy="594360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오늘의 메시지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77240"/>
            <a:ext cx="54864" cy="347472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sg2_section_title"/>
          <p:cNvSpPr txBox="1"/>
          <p:nvPr/>
        </p:nvSpPr>
        <p:spPr>
          <a:xfrm>
            <a:off x="548640" y="77724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2C3A2E"/>
                </a:solidFill>
                <a:latin typeface="Malgun Gothic"/>
              </a:rPr>
              <a:t>오늘의 메시지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8321040" cy="475488"/>
          </a:xfrm>
          <a:prstGeom prst="rect">
            <a:avLst/>
          </a:prstGeom>
          <a:solidFill>
            <a:srgbClr val="EDE0CC"/>
          </a:solidFill>
          <a:ln w="762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sg2_subtitle"/>
          <p:cNvSpPr txBox="1"/>
          <p:nvPr/>
        </p:nvSpPr>
        <p:spPr>
          <a:xfrm>
            <a:off x="502920" y="1252728"/>
            <a:ext cx="8138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50" b="1" i="0">
                <a:solidFill>
                  <a:srgbClr val="2C3A2E"/>
                </a:solidFill>
                <a:latin typeface="Malgun Gothic"/>
              </a:rPr>
              <a:t>2.  일상의 소명에 최선을 다하는 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01368"/>
            <a:ext cx="8321040" cy="2633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sg2_body"/>
          <p:cNvSpPr txBox="1"/>
          <p:nvPr/>
        </p:nvSpPr>
        <p:spPr>
          <a:xfrm>
            <a:off x="566928" y="1892807"/>
            <a:ext cx="8010144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두 번째 자세는 소명 의식(Vocation)으로 일상에 충실한 것입니다. 당시 일부 성도들은 재림을 핑계로 생업을 등한시하며 질서를 어지럽혔습니다.</a:t>
            </a:r>
          </a:p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바울은 조용히 자기 일을 하고 너희 손으로 일하기를 힘쓰라고 명합니다. 직업은 생계 수단을 넘어 하나님이 부르신 거룩한 자리입니다.</a:t>
            </a:r>
          </a:p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코람 데오(Coram Deo)의 정신으로, 하나님의 눈앞에서 오늘 맡겨진 일에 최선을 다하는 것이 세상 속에서 그리스도의 향기를 드러내는 길입니다.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754880"/>
            <a:ext cx="8321040" cy="9144"/>
          </a:xfrm>
          <a:prstGeom prst="rect">
            <a:avLst/>
          </a:prstGeom>
          <a:solidFill>
            <a:srgbClr val="D4C5A9"/>
          </a:solidFill>
          <a:ln w="9525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7A7A7A"/>
                </a:solidFill>
                <a:latin typeface="Malgun Gothic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D5C4A"/>
          </a:solidFill>
          <a:ln w="9525">
            <a:solidFill>
              <a:srgbClr val="3D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411480" cy="594360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삶의 적용  · 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77240"/>
            <a:ext cx="54864" cy="347472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pplication_section_title"/>
          <p:cNvSpPr txBox="1"/>
          <p:nvPr/>
        </p:nvSpPr>
        <p:spPr>
          <a:xfrm>
            <a:off x="548640" y="77724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2C3A2E"/>
                </a:solidFill>
                <a:latin typeface="Malgun Gothic"/>
              </a:rPr>
              <a:t>삶의 적용 (Application)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344168"/>
            <a:ext cx="402336" cy="402336"/>
          </a:xfrm>
          <a:prstGeom prst="ellipse">
            <a:avLst/>
          </a:prstGeom>
          <a:solidFill>
            <a:srgbClr val="3D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40233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298448"/>
            <a:ext cx="77724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pplication_item_1"/>
          <p:cNvSpPr txBox="1"/>
          <p:nvPr/>
        </p:nvSpPr>
        <p:spPr>
          <a:xfrm>
            <a:off x="1051560" y="1298448"/>
            <a:ext cx="758952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오늘 만나는 사람들에게 따뜻한 인사를 먼저 건네고 그들의 필요를 묻겠습니다.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2331720"/>
            <a:ext cx="402336" cy="402336"/>
          </a:xfrm>
          <a:prstGeom prst="ellipse">
            <a:avLst/>
          </a:prstGeom>
          <a:solidFill>
            <a:srgbClr val="3D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31720"/>
            <a:ext cx="40233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286000"/>
            <a:ext cx="77724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pplication_item_2"/>
          <p:cNvSpPr txBox="1"/>
          <p:nvPr/>
        </p:nvSpPr>
        <p:spPr>
          <a:xfrm>
            <a:off x="1051560" y="2286000"/>
            <a:ext cx="758952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나에게 맡겨진 일상 업무를 주님께 하듯 성실하게 처리하겠습니다.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319272"/>
            <a:ext cx="402336" cy="402336"/>
          </a:xfrm>
          <a:prstGeom prst="ellipse">
            <a:avLst/>
          </a:prstGeom>
          <a:solidFill>
            <a:srgbClr val="3D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319272"/>
            <a:ext cx="40233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273552"/>
            <a:ext cx="77724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pplication_item_3"/>
          <p:cNvSpPr txBox="1"/>
          <p:nvPr/>
        </p:nvSpPr>
        <p:spPr>
          <a:xfrm>
            <a:off x="1051560" y="3273552"/>
            <a:ext cx="758952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말씀과 기도, 교회 안의 사랑과 세상 속의 성실함의 균형을 회복하겠습니다.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754880"/>
            <a:ext cx="8321040" cy="9144"/>
          </a:xfrm>
          <a:prstGeom prst="rect">
            <a:avLst/>
          </a:prstGeom>
          <a:solidFill>
            <a:srgbClr val="D4C5A9"/>
          </a:solidFill>
          <a:ln w="9525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7A7A7A"/>
                </a:solidFill>
                <a:latin typeface="Malgun Gothic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D5C4A"/>
          </a:solidFill>
          <a:ln w="9525">
            <a:solidFill>
              <a:srgbClr val="3D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411480" cy="594360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오늘의 기도  ·  Prayer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77240"/>
            <a:ext cx="54864" cy="347472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ayer_section_title"/>
          <p:cNvSpPr txBox="1"/>
          <p:nvPr/>
        </p:nvSpPr>
        <p:spPr>
          <a:xfrm>
            <a:off x="548640" y="77724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2C3A2E"/>
                </a:solidFill>
                <a:latin typeface="Malgun Gothic"/>
              </a:rPr>
              <a:t>오늘의 기도 (Prayer)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8321040" cy="3200400"/>
          </a:xfrm>
          <a:prstGeom prst="rect">
            <a:avLst/>
          </a:prstGeom>
          <a:solidFill>
            <a:srgbClr val="F4EFE6"/>
          </a:solidFill>
          <a:ln w="10160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8321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3D3D3D"/>
                </a:solidFill>
                <a:latin typeface="Malgun Gothic"/>
              </a:rPr>
              <a:t>🙏</a:t>
            </a:r>
          </a:p>
        </p:txBody>
      </p:sp>
      <p:sp>
        <p:nvSpPr>
          <p:cNvPr id="10" name="prayer_body"/>
          <p:cNvSpPr txBox="1"/>
          <p:nvPr/>
        </p:nvSpPr>
        <p:spPr>
          <a:xfrm>
            <a:off x="566928" y="1737360"/>
            <a:ext cx="8010144" cy="2514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하나님 아버지, 마지막 때를 살아가는 저희가 뜨거운 사랑으로 서로를 배려하게 하옵소서.</a:t>
            </a:r>
          </a:p>
          <a:p>
            <a:pPr algn="l">
              <a:lnSpc>
                <a:spcPts val="21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각자에게 주어진 일터와 가정에서 소명 의식을 가지고 살아가게 하시며, 흑백 논리와 이기주의를 넘어 균형 잡힌 신앙으로 세상의 빛과 소금이 되게 인도하여 주시옵소서.</a:t>
            </a:r>
          </a:p>
          <a:p>
            <a:pPr algn="l">
              <a:lnSpc>
                <a:spcPts val="21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예수님의 이름으로 기도드립니다. 아멘.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754880"/>
            <a:ext cx="8321040" cy="9144"/>
          </a:xfrm>
          <a:prstGeom prst="rect">
            <a:avLst/>
          </a:prstGeom>
          <a:solidFill>
            <a:srgbClr val="D4C5A9"/>
          </a:solidFill>
          <a:ln w="9525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7A7A7A"/>
                </a:solidFill>
                <a:latin typeface="Malgun Gothic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